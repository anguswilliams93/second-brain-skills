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1E8D9"/>
                </a:solidFill>
                <a:latin typeface="Inter"/>
              </a:defRPr>
            </a:pPr>
            <a:r>
              <a:t>METHODOLOGY  ·  PRODUCTS  ·  LOOP  · 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The BlockScore Livability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1E8D9"/>
                </a:solidFill>
                <a:latin typeface="Inter"/>
              </a:defRPr>
            </a:pPr>
            <a:r>
              <a:t>Measuring what makes an Australian strata building liveable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5394960"/>
            <a:ext cx="1218895" cy="4572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Three research-validated layers. One benchmarkable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Inter Tight"/>
              </a:defRPr>
            </a:pPr>
            <a:r>
              <a:t>A three-layer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A · Wellbeing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How residents feel about life here. Life satisfaction, safety, community, future security — benchmarked to Australian wellbeing norms.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B ·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What the building and neighbourhood are actually like. Architecture, services, social fit, maintenance, lifestyle.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C ·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9319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The daily-life context shaping experience — safety, information access, leisure and environmental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Livability lives in the overlap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40910" y="1280160"/>
            <a:ext cx="3108960" cy="3108960"/>
          </a:xfrm>
          <a:prstGeom prst="ellipse">
            <a:avLst/>
          </a:prstGeom>
          <a:noFill/>
          <a:ln w="38100">
            <a:solidFill>
              <a:srgbClr val="4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26510" y="2560320"/>
            <a:ext cx="3108960" cy="3108960"/>
          </a:xfrm>
          <a:prstGeom prst="ellipse">
            <a:avLst/>
          </a:prstGeom>
          <a:noFill/>
          <a:ln w="38100">
            <a:solidFill>
              <a:srgbClr val="2D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55310" y="2560320"/>
            <a:ext cx="3108960" cy="3108960"/>
          </a:xfrm>
          <a:prstGeom prst="ellipse">
            <a:avLst/>
          </a:prstGeom>
          <a:noFill/>
          <a:ln w="38100">
            <a:solidFill>
              <a:srgbClr val="6FF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6590" y="777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DD4C6"/>
                </a:solidFill>
                <a:latin typeface="Inter Tight"/>
              </a:defRPr>
            </a:pPr>
            <a:r>
              <a:t>A · Subjective Wellbeing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577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DD4AA"/>
                </a:solidFill>
                <a:latin typeface="Inter Tight"/>
              </a:defRPr>
            </a:pPr>
            <a:r>
              <a:t>B · Residential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577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FFCE0"/>
                </a:solidFill>
                <a:latin typeface="Inter Tight"/>
              </a:defRPr>
            </a:pPr>
            <a:r>
              <a:t>C · Health &amp; QoL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474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1E8D9"/>
                </a:solidFill>
                <a:latin typeface="Inter"/>
              </a:defRPr>
            </a:pPr>
            <a:r>
              <a:t>felt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74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1E8D9"/>
                </a:solidFill>
                <a:latin typeface="Inter"/>
              </a:defRPr>
            </a:pPr>
            <a:r>
              <a:t>personal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1E8D9"/>
                </a:solidFill>
                <a:latin typeface="Inter"/>
              </a:defRPr>
            </a:pPr>
            <a:r>
              <a:t>contextual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110" y="34290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Inter Tight"/>
              </a:defRPr>
            </a:pPr>
            <a:r>
              <a:t>BSLI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230" y="3977639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DD4C6"/>
                </a:solidFill>
                <a:latin typeface="Inter"/>
              </a:defRPr>
            </a:pPr>
            <a:r>
              <a:t>Livability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A1E8D9"/>
                </a:solidFill>
                <a:latin typeface="Inter"/>
              </a:defRPr>
            </a:pPr>
            <a:r>
              <a:t>The Index only moves when evidence across all three layers does. How they are weighted and combined is BlockScore 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790895" cy="5790895"/>
          </a:xfrm>
          <a:prstGeom prst="ellipse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1E8D9"/>
                </a:solidFill>
                <a:latin typeface="Inter"/>
              </a:defRPr>
            </a:pPr>
            <a:r>
              <a:t>EVERY AUSTRALIAN STRATA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4DD4C6"/>
                </a:solidFill>
                <a:latin typeface="Inter Tight"/>
              </a:defRPr>
            </a:pPr>
            <a:r>
              <a:t>0–100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Inter"/>
              </a:defRPr>
            </a:pPr>
            <a:r>
              <a:t>One benchmarkable Livability score, grounded in peer-reviewed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852160"/>
            <a:ext cx="2133295" cy="36576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