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17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1E8D9"/>
                </a:solidFill>
                <a:latin typeface="Inter"/>
              </a:defRPr>
            </a:pPr>
            <a:r>
              <a:t>METHODOLOGY  ·  PRODUCTS  ·  LOOP  · 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Inter Tight"/>
              </a:defRPr>
            </a:pPr>
            <a:r>
              <a:t>The BlockScore Livability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1E8D9"/>
                </a:solidFill>
                <a:latin typeface="Inter"/>
              </a:defRPr>
            </a:pPr>
            <a:r>
              <a:t>Measuring what makes an Australian strata building liveable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5394960"/>
            <a:ext cx="1218895" cy="4572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The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1E8D9"/>
                </a:solidFill>
                <a:latin typeface="Inter"/>
              </a:defRPr>
            </a:pPr>
            <a:r>
              <a:t>Three research-validated layers. One benchmarkable 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Inter Tight"/>
              </a:defRPr>
            </a:pPr>
            <a:r>
              <a:t>A three-layer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Inter Tight"/>
              </a:defRPr>
            </a:pPr>
            <a:r>
              <a:t>A · Wellbeing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How residents feel about life here. Life satisfaction, safety, community, future security — benchmarked to Australian wellbeing norms.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154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Inter Tight"/>
              </a:defRPr>
            </a:pPr>
            <a:r>
              <a:t>B ·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48056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What the building and neighbourhood are actually like. Architecture, services, social fit, maintenance, lifestyle.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175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Inter Tight"/>
              </a:defRPr>
            </a:pPr>
            <a:r>
              <a:t>C ·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93192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The daily-life context shaping experience — safety, information access, leisure and environmental quality.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Livability lives in the overlap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40910" y="1280160"/>
            <a:ext cx="3108960" cy="3108960"/>
          </a:xfrm>
          <a:prstGeom prst="ellipse">
            <a:avLst/>
          </a:prstGeom>
          <a:noFill/>
          <a:ln w="38100">
            <a:solidFill>
              <a:srgbClr val="4DD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26510" y="2560320"/>
            <a:ext cx="3108960" cy="3108960"/>
          </a:xfrm>
          <a:prstGeom prst="ellipse">
            <a:avLst/>
          </a:prstGeom>
          <a:noFill/>
          <a:ln w="38100">
            <a:solidFill>
              <a:srgbClr val="2D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55310" y="2560320"/>
            <a:ext cx="3108960" cy="3108960"/>
          </a:xfrm>
          <a:prstGeom prst="ellipse">
            <a:avLst/>
          </a:prstGeom>
          <a:noFill/>
          <a:ln w="38100">
            <a:solidFill>
              <a:srgbClr val="6FF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6590" y="777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DD4C6"/>
                </a:solidFill>
                <a:latin typeface="Inter Tight"/>
              </a:defRPr>
            </a:pPr>
            <a:r>
              <a:t>A · Subjective Wellbeing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577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2DD4AA"/>
                </a:solidFill>
                <a:latin typeface="Inter Tight"/>
              </a:defRPr>
            </a:pPr>
            <a:r>
              <a:t>B · Residential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577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FFCE0"/>
                </a:solidFill>
                <a:latin typeface="Inter Tight"/>
              </a:defRPr>
            </a:pPr>
            <a:r>
              <a:t>C · Health &amp; QoL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4747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A1E8D9"/>
                </a:solidFill>
                <a:latin typeface="Inter"/>
              </a:defRPr>
            </a:pPr>
            <a:r>
              <a:t>felt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4747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A1E8D9"/>
                </a:solidFill>
                <a:latin typeface="Inter"/>
              </a:defRPr>
            </a:pPr>
            <a:r>
              <a:t>personal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50292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A1E8D9"/>
                </a:solidFill>
                <a:latin typeface="Inter"/>
              </a:defRPr>
            </a:pPr>
            <a:r>
              <a:t>contextual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8110" y="34290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Inter Tight"/>
              </a:defRPr>
            </a:pPr>
            <a:r>
              <a:t>BSLI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5230" y="3977639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DD4C6"/>
                </a:solidFill>
                <a:latin typeface="Inter"/>
              </a:defRPr>
            </a:pPr>
            <a:r>
              <a:t>Livability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264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A1E8D9"/>
                </a:solidFill>
                <a:latin typeface="Inter"/>
              </a:defRPr>
            </a:pPr>
            <a:r>
              <a:t>The Index only moves when evidence across all three layers does. How they are weighted and combined is BlockScore 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457200"/>
            <a:ext cx="5790895" cy="5790895"/>
          </a:xfrm>
          <a:prstGeom prst="ellipse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1E8D9"/>
                </a:solidFill>
                <a:latin typeface="Inter"/>
              </a:defRPr>
            </a:pPr>
            <a:r>
              <a:t>EVERY AUSTRALIAN STRATA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0" b="1">
                <a:solidFill>
                  <a:srgbClr val="4DD4C6"/>
                </a:solidFill>
                <a:latin typeface="Inter Tight"/>
              </a:defRPr>
            </a:pPr>
            <a:r>
              <a:t>0–100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Inter"/>
              </a:defRPr>
            </a:pPr>
            <a:r>
              <a:t>One benchmarkable Livability score, grounded in peer-reviewed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852160"/>
            <a:ext cx="2133295" cy="36576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Benchmark 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1E8D9"/>
                </a:solidFill>
                <a:latin typeface="Inter"/>
              </a:defRPr>
            </a:pPr>
            <a:r>
              <a:t>Five interpretation bands, calibrated against Australian wellbeing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036003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Poor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0–49 — well below national wellbeing norms. Immediate attention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7523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7523" y="1920240"/>
            <a:ext cx="2036003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0403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0403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Below avg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0403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50–64 — lagging Australian wellbeing norms. Clear room to move.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7846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7846" y="1920240"/>
            <a:ext cx="2036003" cy="91440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0726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0726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Average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0726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65–74 — within normal national range. Stable but unremarkable.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169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169" y="1920240"/>
            <a:ext cx="2036003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049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049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Good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049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75–84 — at or above the Australian wellbeing norm (~75).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8492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8492" y="1920240"/>
            <a:ext cx="2036003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1372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AA"/>
                </a:solidFill>
                <a:latin typeface="Inter Tight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1372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Excellent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1372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85–100 — top decile. Rare and reputationally significant.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Continuously refined with ML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1E8D9"/>
                </a:solidFill>
                <a:latin typeface="Inter"/>
              </a:defRPr>
            </a:pPr>
            <a:r>
              <a:t>The Index is a living model, not a static questionnaire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036003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Anonymous responses flow in continuously from tenants across every building on the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7523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7523" y="1920240"/>
            <a:ext cx="2036003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0403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0403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0403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Psychometric checks confirm the instrument still measures what it should — building and portfolio scale.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7846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7846" y="1920240"/>
            <a:ext cx="2036003" cy="91440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60726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0726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Calibrate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0726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Layer weights are periodically re-fit against held-out behavioural outcomes so the score stays predictive.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169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169" y="1920240"/>
            <a:ext cx="2036003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049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049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Detect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049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Trimmed statistics and confidence ribbons dampen the impact of over-negative or over-positive voices.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8492" y="1920240"/>
            <a:ext cx="2036003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8492" y="1920240"/>
            <a:ext cx="2036003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81372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AA"/>
                </a:solidFill>
                <a:latin typeface="Inter Tight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1372" y="2834640"/>
            <a:ext cx="16702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Refine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1372" y="3931920"/>
            <a:ext cx="167024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Index revisions are version-controlled. Models improve; historical benchmarks stay interpretable.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DD4C6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The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1E8D9"/>
                </a:solidFill>
                <a:latin typeface="Inter"/>
              </a:defRPr>
            </a:pPr>
            <a:r>
              <a:t>Three products pointing at the same index from different angles.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Three products, one index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1E8D9"/>
                </a:solidFill>
                <a:latin typeface="Inter"/>
              </a:defRPr>
            </a:pPr>
            <a:r>
              <a:t>Residents generate the evidence, managers act on it, buyers pay for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3576218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576218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21045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Survey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321045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Residents answer the Livability Index anonymously on mobile and earn credit toward a paid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920240"/>
            <a:ext cx="3576218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920240"/>
            <a:ext cx="3576218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0618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834640"/>
            <a:ext cx="321045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931920"/>
            <a:ext cx="321045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Live Livability Index for body corporates and strata managers. Layer breakdowns, trends, risk alerts, benchmarks.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920240"/>
            <a:ext cx="3576218" cy="420624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1920240"/>
            <a:ext cx="3576218" cy="91440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1156" y="21945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1156" y="2834640"/>
            <a:ext cx="321045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Inter Tight"/>
              </a:defRPr>
            </a:pPr>
            <a:r>
              <a:t>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3931920"/>
            <a:ext cx="321045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E8D9"/>
                </a:solidFill>
                <a:latin typeface="Inter"/>
              </a:defRPr>
            </a:pPr>
            <a:r>
              <a:t>Property-specific Livability reports for buyers, renters and owners. Revenue flows into the sinking fund.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Inter Tight"/>
              </a:defRPr>
            </a:pPr>
            <a:r>
              <a:t>Dashboard vs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DD4C6"/>
                </a:solidFill>
                <a:latin typeface="Inter Tight"/>
              </a:defRPr>
            </a:pPr>
            <a:r>
              <a:t>Dashboard — SaaS subscription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Recurring monthly or annual pricing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310128"/>
            <a:ext cx="91440" cy="9144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Live scores, trends and benchmarks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224528"/>
            <a:ext cx="91440" cy="9144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Multi-building portfolio views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138928"/>
            <a:ext cx="91440" cy="9144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Risk alerts and AI-powered 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6FFCE0"/>
                </a:solidFill>
                <a:latin typeface="Inter Tight"/>
              </a:defRPr>
            </a:pPr>
            <a:r>
              <a:t>Reports — One-off purchase</a:t>
            </a:r>
          </a:p>
        </p:txBody>
      </p:sp>
      <p:sp>
        <p:nvSpPr>
          <p:cNvPr id="17" name="Oval 16"/>
          <p:cNvSpPr/>
          <p:nvPr/>
        </p:nvSpPr>
        <p:spPr>
          <a:xfrm>
            <a:off x="6336792" y="2395728"/>
            <a:ext cx="91440" cy="9144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2286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Pay once, per building</a:t>
            </a:r>
          </a:p>
        </p:txBody>
      </p:sp>
      <p:sp>
        <p:nvSpPr>
          <p:cNvPr id="19" name="Oval 18"/>
          <p:cNvSpPr/>
          <p:nvPr/>
        </p:nvSpPr>
        <p:spPr>
          <a:xfrm>
            <a:off x="6336792" y="3310128"/>
            <a:ext cx="91440" cy="9144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32004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Buyer, renter and owner audiences</a:t>
            </a:r>
          </a:p>
        </p:txBody>
      </p:sp>
      <p:sp>
        <p:nvSpPr>
          <p:cNvPr id="21" name="Oval 20"/>
          <p:cNvSpPr/>
          <p:nvPr/>
        </p:nvSpPr>
        <p:spPr>
          <a:xfrm>
            <a:off x="6336792" y="4224528"/>
            <a:ext cx="91440" cy="9144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4114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Revenue funds the building’s sinking fund</a:t>
            </a:r>
          </a:p>
        </p:txBody>
      </p:sp>
      <p:sp>
        <p:nvSpPr>
          <p:cNvPr id="23" name="Oval 22"/>
          <p:cNvSpPr/>
          <p:nvPr/>
        </p:nvSpPr>
        <p:spPr>
          <a:xfrm>
            <a:off x="6336792" y="5138928"/>
            <a:ext cx="91440" cy="9144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6832" y="50292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</a:defRPr>
            </a:pPr>
            <a:r>
              <a:t>Residents redeem survey credit against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DD4C6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The BlockScore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1E8D9"/>
                </a:solidFill>
                <a:latin typeface="Inter"/>
              </a:defRPr>
            </a:pPr>
            <a:r>
              <a:t>Value flows full circle — from resident to building and 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Inter Tight"/>
              </a:defRPr>
            </a:pPr>
            <a:r>
              <a:t>The BlockScore Loop</a:t>
            </a:r>
          </a:p>
        </p:txBody>
      </p:sp>
      <p:sp>
        <p:nvSpPr>
          <p:cNvPr id="3" name="Oval 2"/>
          <p:cNvSpPr/>
          <p:nvPr/>
        </p:nvSpPr>
        <p:spPr>
          <a:xfrm>
            <a:off x="3169310" y="914400"/>
            <a:ext cx="5852160" cy="5852160"/>
          </a:xfrm>
          <a:prstGeom prst="ellipse">
            <a:avLst/>
          </a:prstGeom>
          <a:noFill/>
          <a:ln w="25400">
            <a:solidFill>
              <a:srgbClr val="16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15230" y="2560320"/>
            <a:ext cx="2560320" cy="256032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95190" y="33375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2E28"/>
                </a:solidFill>
                <a:latin typeface="Inter Tight"/>
              </a:defRPr>
            </a:pPr>
            <a:r>
              <a:t>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6590" y="41148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D2E28"/>
                </a:solidFill>
                <a:latin typeface="Inter"/>
              </a:defRPr>
            </a:pPr>
            <a:r>
              <a:t>Virtuous cycle</a:t>
            </a:r>
          </a:p>
        </p:txBody>
      </p:sp>
      <p:sp>
        <p:nvSpPr>
          <p:cNvPr id="7" name="Oval 6"/>
          <p:cNvSpPr/>
          <p:nvPr/>
        </p:nvSpPr>
        <p:spPr>
          <a:xfrm>
            <a:off x="5958230" y="960120"/>
            <a:ext cx="274320" cy="27432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3790" y="-91439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DD4C6"/>
                </a:solidFill>
                <a:latin typeface="Inter Tight"/>
              </a:defRPr>
            </a:pPr>
            <a:r>
              <a:t>01 ·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3790" y="320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A1E8D9"/>
                </a:solidFill>
                <a:latin typeface="Inter"/>
              </a:defRPr>
            </a:pPr>
            <a:r>
              <a:t>Residents complete an anonymous survey</a:t>
            </a:r>
          </a:p>
        </p:txBody>
      </p:sp>
      <p:sp>
        <p:nvSpPr>
          <p:cNvPr id="10" name="Oval 9"/>
          <p:cNvSpPr/>
          <p:nvPr/>
        </p:nvSpPr>
        <p:spPr>
          <a:xfrm>
            <a:off x="8701430" y="3703320"/>
            <a:ext cx="274320" cy="27432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12910" y="3383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4DD4C6"/>
                </a:solidFill>
                <a:latin typeface="Inter Tight"/>
              </a:defRPr>
            </a:pPr>
            <a:r>
              <a:t>02 · Credit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1291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A1E8D9"/>
                </a:solidFill>
                <a:latin typeface="Inter"/>
              </a:defRPr>
            </a:pPr>
            <a:r>
              <a:t>They earn credit toward a report</a:t>
            </a:r>
          </a:p>
        </p:txBody>
      </p:sp>
      <p:sp>
        <p:nvSpPr>
          <p:cNvPr id="13" name="Oval 12"/>
          <p:cNvSpPr/>
          <p:nvPr/>
        </p:nvSpPr>
        <p:spPr>
          <a:xfrm>
            <a:off x="5958230" y="6446520"/>
            <a:ext cx="274320" cy="27432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3790" y="68580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DD4C6"/>
                </a:solidFill>
                <a:latin typeface="Inter Tight"/>
              </a:defRPr>
            </a:pPr>
            <a:r>
              <a:t>03 ·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3790" y="7269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A1E8D9"/>
                </a:solidFill>
                <a:latin typeface="Inter"/>
              </a:defRPr>
            </a:pPr>
            <a:r>
              <a:t>Anyone can buy a Building Insight Report</a:t>
            </a:r>
          </a:p>
        </p:txBody>
      </p:sp>
      <p:sp>
        <p:nvSpPr>
          <p:cNvPr id="16" name="Oval 15"/>
          <p:cNvSpPr/>
          <p:nvPr/>
        </p:nvSpPr>
        <p:spPr>
          <a:xfrm>
            <a:off x="3215030" y="3703320"/>
            <a:ext cx="274320" cy="274320"/>
          </a:xfrm>
          <a:prstGeom prst="ellipse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670" y="338328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4DD4C6"/>
                </a:solidFill>
                <a:latin typeface="Inter Tight"/>
              </a:defRPr>
            </a:pPr>
            <a:r>
              <a:t>04 · Sinking Fund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670" y="37947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A1E8D9"/>
                </a:solidFill>
                <a:latin typeface="Inter"/>
              </a:defRPr>
            </a:pPr>
            <a:r>
              <a:t>Revenue funds the building’s sinking fund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0">
                <a:solidFill>
                  <a:srgbClr val="4DD4C6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9728" cy="22860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i="1">
                <a:solidFill>
                  <a:srgbClr val="FFFFFF"/>
                </a:solidFill>
                <a:latin typeface="Inter"/>
              </a:defRPr>
            </a:pPr>
            <a:r>
              <a:t>Residents are rewarded for participating, buyers get the data they need, and every dollar from reports goes straight back into maintaining the buildings we call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3035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DD4C6"/>
                </a:solidFill>
                <a:latin typeface="Inter Tight"/>
              </a:defRPr>
            </a:pPr>
            <a:r>
              <a:t>— The BlockScore Loop, operating principle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 b="1">
                <a:solidFill>
                  <a:srgbClr val="4DD4C6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The Subscription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1E8D9"/>
                </a:solidFill>
                <a:latin typeface="Inter"/>
              </a:defRPr>
            </a:pPr>
            <a:r>
              <a:t>Five tiers. One dashboard product. Scales with your portfolio.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Inter Tight"/>
              </a:defRPr>
            </a:pPr>
            <a:r>
              <a:t>A five-tier subscription ladder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22860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1E8D9"/>
                </a:solidFill>
                <a:latin typeface="Inter"/>
              </a:defRPr>
            </a:pPr>
            <a:r>
              <a:t>Start free with Scout. Move up as your portfolio grows. 30-day free trial on every paid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2145731" cy="41148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2145731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7799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DD4C6"/>
                </a:solidFill>
                <a:latin typeface="Inter"/>
              </a:defRPr>
            </a:pPr>
            <a:r>
              <a:t>TIER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77997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 Tight"/>
              </a:defRPr>
            </a:pPr>
            <a:r>
              <a:t>Scout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7799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E8D9"/>
                </a:solidFill>
                <a:latin typeface="Inter"/>
              </a:defRPr>
            </a:pPr>
            <a:r>
              <a:t>Self-managed body corps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t>1 building · 5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0352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DD4C6"/>
                </a:solidFill>
                <a:latin typeface="Inter Tight"/>
              </a:defRPr>
            </a:pPr>
            <a:r>
              <a:t>Free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4371" y="1874520"/>
            <a:ext cx="2145731" cy="41148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4371" y="1874520"/>
            <a:ext cx="2145731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7251" y="2148840"/>
            <a:ext cx="17799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AA"/>
                </a:solidFill>
                <a:latin typeface="Inter"/>
              </a:defRPr>
            </a:pPr>
            <a:r>
              <a:t>TIER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7251" y="2468880"/>
            <a:ext cx="177997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 Tight"/>
              </a:defRPr>
            </a:pPr>
            <a:r>
              <a:t>Tenant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7251" y="3154680"/>
            <a:ext cx="17799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E8D9"/>
                </a:solidFill>
                <a:latin typeface="Inter"/>
              </a:defRPr>
            </a:pPr>
            <a:r>
              <a:t>Single-building body corps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7251" y="425196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t>1 building · 10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7251" y="516636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D4AA"/>
                </a:solidFill>
                <a:latin typeface="Inter Tight"/>
              </a:defRPr>
            </a:pPr>
            <a:r>
              <a:t>From $90/mo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2982" y="1737360"/>
            <a:ext cx="2145731" cy="4114800"/>
          </a:xfrm>
          <a:prstGeom prst="roundRect">
            <a:avLst/>
          </a:prstGeom>
          <a:solidFill>
            <a:srgbClr val="15473E"/>
          </a:solidFill>
          <a:ln w="25400">
            <a:solidFill>
              <a:srgbClr val="6FF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2982" y="1737360"/>
            <a:ext cx="2145731" cy="91440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05862" y="2011680"/>
            <a:ext cx="17799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FFCE0"/>
                </a:solidFill>
                <a:latin typeface="Inter"/>
              </a:defRPr>
            </a:pPr>
            <a:r>
              <a:t>TIER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5862" y="2331720"/>
            <a:ext cx="177997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 Tight"/>
              </a:defRPr>
            </a:pPr>
            <a:r>
              <a:t>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5862" y="3017520"/>
            <a:ext cx="17799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E8D9"/>
                </a:solidFill>
                <a:latin typeface="Inter"/>
              </a:defRPr>
            </a:pPr>
            <a:r>
              <a:t>Strata managers (popular)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5862" y="411480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t>3 buildings · 20 units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5862" y="502920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FFCE0"/>
                </a:solidFill>
                <a:latin typeface="Inter Tight"/>
              </a:defRPr>
            </a:pPr>
            <a:r>
              <a:t>From $149/mo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4422" y="1417320"/>
            <a:ext cx="1962851" cy="292608"/>
          </a:xfrm>
          <a:prstGeom prst="round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14422" y="1389888"/>
            <a:ext cx="196285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D2E28"/>
                </a:solidFill>
                <a:latin typeface="Inter Tight"/>
              </a:defRPr>
            </a:pPr>
            <a:r>
              <a:t>MOST POPULAR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51593" y="1600200"/>
            <a:ext cx="2145731" cy="41148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51593" y="1600200"/>
            <a:ext cx="2145731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4473" y="1874520"/>
            <a:ext cx="17799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DD4AA"/>
                </a:solidFill>
                <a:latin typeface="Inter"/>
              </a:defRPr>
            </a:pPr>
            <a:r>
              <a:t>TIER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4473" y="2194560"/>
            <a:ext cx="177997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 Tight"/>
              </a:defRPr>
            </a:pPr>
            <a:r>
              <a:t>Landlord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4473" y="2880360"/>
            <a:ext cx="17799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E8D9"/>
                </a:solidFill>
                <a:latin typeface="Inter"/>
              </a:defRPr>
            </a:pPr>
            <a:r>
              <a:t>Portfolio owners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34473" y="397764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t>Unlimited · 50 units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473" y="489204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DD4AA"/>
                </a:solidFill>
                <a:latin typeface="Inter Tight"/>
              </a:defRPr>
            </a:pPr>
            <a:r>
              <a:t>From $249/mo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80204" y="1463040"/>
            <a:ext cx="2145731" cy="41148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80204" y="1463040"/>
            <a:ext cx="2145731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63084" y="1737360"/>
            <a:ext cx="177997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DD4C6"/>
                </a:solidFill>
                <a:latin typeface="Inter"/>
              </a:defRPr>
            </a:pPr>
            <a:r>
              <a:t>TIER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3084" y="2057400"/>
            <a:ext cx="177997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Inter Tight"/>
              </a:defRPr>
            </a:pPr>
            <a:r>
              <a:t>Mayor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63084" y="2743200"/>
            <a:ext cx="17799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1E8D9"/>
                </a:solidFill>
                <a:latin typeface="Inter"/>
              </a:defRPr>
            </a:pPr>
            <a:r>
              <a:t>Enterprise managers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3084" y="384048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Inter"/>
              </a:defRPr>
            </a:pPr>
            <a:r>
              <a:t>Unlimited · 199 units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63084" y="4754880"/>
            <a:ext cx="177997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DD4C6"/>
                </a:solidFill>
                <a:latin typeface="Inter Tight"/>
              </a:defRPr>
            </a:pPr>
            <a:r>
              <a:t>From $330/mo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Inter Tight"/>
              </a:defRPr>
            </a:pPr>
            <a:r>
              <a:t>Three funding streams, one flywheel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 Tight"/>
              </a:defRPr>
            </a:pPr>
            <a:r>
              <a:t>SaaS funds the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Dashboard subscriptions pay for the Livability Index itself — research, engineering, validation and ML refinement.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154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 Tight"/>
              </a:defRPr>
            </a:pPr>
            <a:r>
              <a:t>Reports fund the buildings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720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Every Building Insight Report sends revenue straight into the featured building’s sinking fund for maintenance.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06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175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 Tight"/>
              </a:defRPr>
            </a:pPr>
            <a:r>
              <a:t>Surveys fund the residents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233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1E8D9"/>
                </a:solidFill>
                <a:latin typeface="Inter"/>
              </a:defRPr>
            </a:pPr>
            <a:r>
              <a:t>Residents earn credit against the cost of the report they care about most — honest feedback, fair reward.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Inter Tight"/>
              </a:defRPr>
            </a:pPr>
            <a:r>
              <a:t>Know your building. Protect your tenants.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33295" cy="73152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1E8D9"/>
                </a:solidFill>
                <a:latin typeface="Inter"/>
              </a:defRPr>
            </a:pPr>
            <a:r>
              <a:t>Anonymous feedback. Actionable insights. Benchmarkable building scores.</a:t>
            </a:r>
          </a:p>
        </p:txBody>
      </p:sp>
      <p:sp>
        <p:nvSpPr>
          <p:cNvPr id="7" name="Oval 6"/>
          <p:cNvSpPr/>
          <p:nvPr/>
        </p:nvSpPr>
        <p:spPr>
          <a:xfrm>
            <a:off x="2203704" y="4846320"/>
            <a:ext cx="457200" cy="45720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37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E28"/>
                </a:solidFill>
                <a:latin typeface="Inter Tight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Read the methodology</a:t>
            </a:r>
          </a:p>
        </p:txBody>
      </p:sp>
      <p:sp>
        <p:nvSpPr>
          <p:cNvPr id="10" name="Oval 9"/>
          <p:cNvSpPr/>
          <p:nvPr/>
        </p:nvSpPr>
        <p:spPr>
          <a:xfrm>
            <a:off x="5861304" y="4846320"/>
            <a:ext cx="457200" cy="45720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613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E28"/>
                </a:solidFill>
                <a:latin typeface="Inter Tight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11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Join the waitlist</a:t>
            </a:r>
          </a:p>
        </p:txBody>
      </p:sp>
      <p:sp>
        <p:nvSpPr>
          <p:cNvPr id="13" name="Oval 12"/>
          <p:cNvSpPr/>
          <p:nvPr/>
        </p:nvSpPr>
        <p:spPr>
          <a:xfrm>
            <a:off x="9518904" y="4846320"/>
            <a:ext cx="457200" cy="45720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189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E28"/>
                </a:solidFill>
                <a:latin typeface="Inter Tigh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187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Talk to our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DD4C6"/>
                </a:solidFill>
                <a:latin typeface="Inter Tight"/>
              </a:defRPr>
            </a:pPr>
            <a:r>
              <a:t>blockscore.net/methodology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