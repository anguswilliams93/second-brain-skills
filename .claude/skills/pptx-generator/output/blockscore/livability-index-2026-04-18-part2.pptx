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Inter Tight"/>
              </a:defRPr>
            </a:pPr>
            <a:r>
              <a:t>Benchmark bands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1E8D9"/>
                </a:solidFill>
                <a:latin typeface="Inter"/>
              </a:defRPr>
            </a:pPr>
            <a:r>
              <a:t>Five interpretation bands, calibrated against Australian wellbeing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2036003" cy="420624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036003" cy="9144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DD4C6"/>
                </a:solidFill>
                <a:latin typeface="Inter Tight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16702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 Tight"/>
              </a:defRPr>
            </a:pPr>
            <a:r>
              <a:t>Poor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67024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E8D9"/>
                </a:solidFill>
                <a:latin typeface="Inter"/>
              </a:defRPr>
            </a:pPr>
            <a:r>
              <a:t>0–49 — well below national wellbeing norms. Immediate attention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7523" y="1920240"/>
            <a:ext cx="2036003" cy="420624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67523" y="1920240"/>
            <a:ext cx="2036003" cy="91440"/>
          </a:xfrm>
          <a:prstGeom prst="rect">
            <a:avLst/>
          </a:prstGeom>
          <a:solidFill>
            <a:srgbClr val="2D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0403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D4AA"/>
                </a:solidFill>
                <a:latin typeface="Inter Tight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0403" y="2834640"/>
            <a:ext cx="16702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 Tight"/>
              </a:defRPr>
            </a:pPr>
            <a:r>
              <a:t>Below avg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0403" y="3931920"/>
            <a:ext cx="167024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E8D9"/>
                </a:solidFill>
                <a:latin typeface="Inter"/>
              </a:defRPr>
            </a:pPr>
            <a:r>
              <a:t>50–64 — lagging Australian wellbeing norms. Clear room to move.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7846" y="1920240"/>
            <a:ext cx="2036003" cy="420624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7846" y="1920240"/>
            <a:ext cx="2036003" cy="91440"/>
          </a:xfrm>
          <a:prstGeom prst="rect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60726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FFCE0"/>
                </a:solidFill>
                <a:latin typeface="Inter Tight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0726" y="2834640"/>
            <a:ext cx="16702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 Tight"/>
              </a:defRPr>
            </a:pPr>
            <a:r>
              <a:t>Average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0726" y="3931920"/>
            <a:ext cx="167024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E8D9"/>
                </a:solidFill>
                <a:latin typeface="Inter"/>
              </a:defRPr>
            </a:pPr>
            <a:r>
              <a:t>65–74 — within normal national range. Stable but unremarkable.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88169" y="1920240"/>
            <a:ext cx="2036003" cy="420624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169" y="1920240"/>
            <a:ext cx="2036003" cy="9144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049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DD4C6"/>
                </a:solidFill>
                <a:latin typeface="Inter Tight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049" y="2834640"/>
            <a:ext cx="16702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 Tight"/>
              </a:defRPr>
            </a:pPr>
            <a:r>
              <a:t>Good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1049" y="3931920"/>
            <a:ext cx="167024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E8D9"/>
                </a:solidFill>
                <a:latin typeface="Inter"/>
              </a:defRPr>
            </a:pPr>
            <a:r>
              <a:t>75–84 — at or above the Australian wellbeing norm (~75).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8492" y="1920240"/>
            <a:ext cx="2036003" cy="420624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98492" y="1920240"/>
            <a:ext cx="2036003" cy="91440"/>
          </a:xfrm>
          <a:prstGeom prst="rect">
            <a:avLst/>
          </a:prstGeom>
          <a:solidFill>
            <a:srgbClr val="2D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81372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D4AA"/>
                </a:solidFill>
                <a:latin typeface="Inter Tight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81372" y="2834640"/>
            <a:ext cx="16702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 Tight"/>
              </a:defRPr>
            </a:pPr>
            <a:r>
              <a:t>Excellent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1372" y="3931920"/>
            <a:ext cx="167024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E8D9"/>
                </a:solidFill>
                <a:latin typeface="Inter"/>
              </a:defRPr>
            </a:pPr>
            <a:r>
              <a:t>85–100 — top decile. Rare and reputationally significant.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Inter Tight"/>
              </a:defRPr>
            </a:pPr>
            <a:r>
              <a:t>Continuously refined with ML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1E8D9"/>
                </a:solidFill>
                <a:latin typeface="Inter"/>
              </a:defRPr>
            </a:pPr>
            <a:r>
              <a:t>The Index is a living model, not a static questionnaire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2036003" cy="420624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036003" cy="9144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DD4C6"/>
                </a:solidFill>
                <a:latin typeface="Inter Tight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16702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 Tight"/>
              </a:defRPr>
            </a:pPr>
            <a: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67024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E8D9"/>
                </a:solidFill>
                <a:latin typeface="Inter"/>
              </a:defRPr>
            </a:pPr>
            <a:r>
              <a:t>Anonymous responses flow in continuously from tenants across every building on the platform.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7523" y="1920240"/>
            <a:ext cx="2036003" cy="420624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67523" y="1920240"/>
            <a:ext cx="2036003" cy="91440"/>
          </a:xfrm>
          <a:prstGeom prst="rect">
            <a:avLst/>
          </a:prstGeom>
          <a:solidFill>
            <a:srgbClr val="2D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0403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D4AA"/>
                </a:solidFill>
                <a:latin typeface="Inter Tight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0403" y="2834640"/>
            <a:ext cx="16702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 Tight"/>
              </a:defRPr>
            </a:pPr>
            <a: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0403" y="3931920"/>
            <a:ext cx="167024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E8D9"/>
                </a:solidFill>
                <a:latin typeface="Inter"/>
              </a:defRPr>
            </a:pPr>
            <a:r>
              <a:t>Psychometric checks confirm the instrument still measures what it should — building and portfolio scale.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7846" y="1920240"/>
            <a:ext cx="2036003" cy="420624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7846" y="1920240"/>
            <a:ext cx="2036003" cy="91440"/>
          </a:xfrm>
          <a:prstGeom prst="rect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60726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FFCE0"/>
                </a:solidFill>
                <a:latin typeface="Inter Tight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0726" y="2834640"/>
            <a:ext cx="16702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 Tight"/>
              </a:defRPr>
            </a:pPr>
            <a:r>
              <a:t>Calibrate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0726" y="3931920"/>
            <a:ext cx="167024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E8D9"/>
                </a:solidFill>
                <a:latin typeface="Inter"/>
              </a:defRPr>
            </a:pPr>
            <a:r>
              <a:t>Layer weights are periodically re-fit against held-out behavioural outcomes so the score stays predictive.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88169" y="1920240"/>
            <a:ext cx="2036003" cy="420624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169" y="1920240"/>
            <a:ext cx="2036003" cy="9144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049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DD4C6"/>
                </a:solidFill>
                <a:latin typeface="Inter Tight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049" y="2834640"/>
            <a:ext cx="16702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 Tight"/>
              </a:defRPr>
            </a:pPr>
            <a:r>
              <a:t>Detect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1049" y="3931920"/>
            <a:ext cx="167024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E8D9"/>
                </a:solidFill>
                <a:latin typeface="Inter"/>
              </a:defRPr>
            </a:pPr>
            <a:r>
              <a:t>Trimmed statistics and confidence ribbons dampen the impact of over-negative or over-positive voices.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8492" y="1920240"/>
            <a:ext cx="2036003" cy="420624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98492" y="1920240"/>
            <a:ext cx="2036003" cy="91440"/>
          </a:xfrm>
          <a:prstGeom prst="rect">
            <a:avLst/>
          </a:prstGeom>
          <a:solidFill>
            <a:srgbClr val="2D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81372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D4AA"/>
                </a:solidFill>
                <a:latin typeface="Inter Tight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81372" y="2834640"/>
            <a:ext cx="16702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 Tight"/>
              </a:defRPr>
            </a:pPr>
            <a:r>
              <a:t>Refine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1372" y="3931920"/>
            <a:ext cx="167024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E8D9"/>
                </a:solidFill>
                <a:latin typeface="Inter"/>
              </a:defRPr>
            </a:pPr>
            <a:r>
              <a:t>Index revisions are version-controlled. Models improve; historical benchmarks stay interpretable.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4DD4C6"/>
                </a:solidFill>
                <a:latin typeface="Inter Tight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73152" cy="411480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237744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Inter Tight"/>
              </a:defRPr>
            </a:pPr>
            <a:r>
              <a:t>The 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84048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1E8D9"/>
                </a:solidFill>
                <a:latin typeface="Inter"/>
              </a:defRPr>
            </a:pPr>
            <a:r>
              <a:t>Three products pointing at the same index from different angles.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Inter Tight"/>
              </a:defRPr>
            </a:pPr>
            <a:r>
              <a:t>Three products, one index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1E8D9"/>
                </a:solidFill>
                <a:latin typeface="Inter"/>
              </a:defRPr>
            </a:pPr>
            <a:r>
              <a:t>Residents generate the evidence, managers act on it, buyers pay for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3576218" cy="420624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576218" cy="9144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DD4C6"/>
                </a:solidFill>
                <a:latin typeface="Inter Tight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21045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 Tight"/>
              </a:defRPr>
            </a:pPr>
            <a:r>
              <a:t>Survey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321045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E8D9"/>
                </a:solidFill>
                <a:latin typeface="Inter"/>
              </a:defRPr>
            </a:pPr>
            <a:r>
              <a:t>Residents answer the Livability Index anonymously on mobile and earn credit toward a paid report.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920240"/>
            <a:ext cx="3576218" cy="420624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7738" y="1920240"/>
            <a:ext cx="3576218" cy="91440"/>
          </a:xfrm>
          <a:prstGeom prst="rect">
            <a:avLst/>
          </a:prstGeom>
          <a:solidFill>
            <a:srgbClr val="2D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0618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D4AA"/>
                </a:solidFill>
                <a:latin typeface="Inter Tight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2834640"/>
            <a:ext cx="321045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 Tight"/>
              </a:defRPr>
            </a:pPr>
            <a:r>
              <a:t>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3931920"/>
            <a:ext cx="321045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E8D9"/>
                </a:solidFill>
                <a:latin typeface="Inter"/>
              </a:defRPr>
            </a:pPr>
            <a:r>
              <a:t>Live Livability Index for body corporates and strata managers. Layer breakdowns, trends, risk alerts, benchmarks.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1920240"/>
            <a:ext cx="3576218" cy="420624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1920240"/>
            <a:ext cx="3576218" cy="91440"/>
          </a:xfrm>
          <a:prstGeom prst="rect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1156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FFCE0"/>
                </a:solidFill>
                <a:latin typeface="Inter Tight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1156" y="2834640"/>
            <a:ext cx="321045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 Tight"/>
              </a:defRPr>
            </a:pPr>
            <a:r>
              <a:t>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1156" y="3931920"/>
            <a:ext cx="321045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E8D9"/>
                </a:solidFill>
                <a:latin typeface="Inter"/>
              </a:defRPr>
            </a:pPr>
            <a:r>
              <a:t>Property-specific Livability reports for buyers, renters and owners. Revenue flows into the sinking fund.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Inter Tight"/>
              </a:defRPr>
            </a:pPr>
            <a:r>
              <a:t>Dashboard vs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62472" y="1371600"/>
            <a:ext cx="64008" cy="502920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37160" cy="45720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DD4C6"/>
                </a:solidFill>
                <a:latin typeface="Inter Tight"/>
              </a:defRPr>
            </a:pPr>
            <a:r>
              <a:t>Dashboard — SaaS subscription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395728"/>
            <a:ext cx="91440" cy="91440"/>
          </a:xfrm>
          <a:prstGeom prst="ellipse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Inter"/>
              </a:defRPr>
            </a:pPr>
            <a:r>
              <a:t>Recurring monthly or annual pricing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310128"/>
            <a:ext cx="91440" cy="91440"/>
          </a:xfrm>
          <a:prstGeom prst="ellipse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Inter"/>
              </a:defRPr>
            </a:pPr>
            <a:r>
              <a:t>Live scores, trends and benchmarks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4224528"/>
            <a:ext cx="91440" cy="91440"/>
          </a:xfrm>
          <a:prstGeom prst="ellipse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148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Inter"/>
              </a:defRPr>
            </a:pPr>
            <a:r>
              <a:t>Multi-building portfolio views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5138928"/>
            <a:ext cx="91440" cy="91440"/>
          </a:xfrm>
          <a:prstGeom prst="ellipse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292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Inter"/>
              </a:defRPr>
            </a:pPr>
            <a:r>
              <a:t>Risk alerts and AI-powered 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36792" y="1554480"/>
            <a:ext cx="137160" cy="457200"/>
          </a:xfrm>
          <a:prstGeom prst="rect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1508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FFCE0"/>
                </a:solidFill>
                <a:latin typeface="Inter Tight"/>
              </a:defRPr>
            </a:pPr>
            <a:r>
              <a:t>Reports — One-off purchase</a:t>
            </a:r>
          </a:p>
        </p:txBody>
      </p:sp>
      <p:sp>
        <p:nvSpPr>
          <p:cNvPr id="17" name="Oval 16"/>
          <p:cNvSpPr/>
          <p:nvPr/>
        </p:nvSpPr>
        <p:spPr>
          <a:xfrm>
            <a:off x="6336792" y="2395728"/>
            <a:ext cx="91440" cy="91440"/>
          </a:xfrm>
          <a:prstGeom prst="ellipse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22860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Inter"/>
              </a:defRPr>
            </a:pPr>
            <a:r>
              <a:t>Pay once, per building</a:t>
            </a:r>
          </a:p>
        </p:txBody>
      </p:sp>
      <p:sp>
        <p:nvSpPr>
          <p:cNvPr id="19" name="Oval 18"/>
          <p:cNvSpPr/>
          <p:nvPr/>
        </p:nvSpPr>
        <p:spPr>
          <a:xfrm>
            <a:off x="6336792" y="3310128"/>
            <a:ext cx="91440" cy="91440"/>
          </a:xfrm>
          <a:prstGeom prst="ellipse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32004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Inter"/>
              </a:defRPr>
            </a:pPr>
            <a:r>
              <a:t>Buyer, renter and owner audiences</a:t>
            </a:r>
          </a:p>
        </p:txBody>
      </p:sp>
      <p:sp>
        <p:nvSpPr>
          <p:cNvPr id="21" name="Oval 20"/>
          <p:cNvSpPr/>
          <p:nvPr/>
        </p:nvSpPr>
        <p:spPr>
          <a:xfrm>
            <a:off x="6336792" y="4224528"/>
            <a:ext cx="91440" cy="91440"/>
          </a:xfrm>
          <a:prstGeom prst="ellipse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2" y="41148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Inter"/>
              </a:defRPr>
            </a:pPr>
            <a:r>
              <a:t>Revenue funds the building’s sinking fund</a:t>
            </a:r>
          </a:p>
        </p:txBody>
      </p:sp>
      <p:sp>
        <p:nvSpPr>
          <p:cNvPr id="23" name="Oval 22"/>
          <p:cNvSpPr/>
          <p:nvPr/>
        </p:nvSpPr>
        <p:spPr>
          <a:xfrm>
            <a:off x="6336792" y="5138928"/>
            <a:ext cx="91440" cy="91440"/>
          </a:xfrm>
          <a:prstGeom prst="ellipse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6832" y="50292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Inter"/>
              </a:defRPr>
            </a:pPr>
            <a:r>
              <a:t>Residents redeem survey credit against cost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