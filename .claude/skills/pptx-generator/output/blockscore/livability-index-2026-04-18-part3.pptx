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4DD4C6"/>
                </a:solidFill>
                <a:latin typeface="Inter Tight"/>
              </a:defRPr>
            </a:pPr>
            <a: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371600"/>
            <a:ext cx="73152" cy="4114800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2377440"/>
            <a:ext cx="6858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Inter Tight"/>
              </a:defRPr>
            </a:pPr>
            <a:r>
              <a:t>The BlockScore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38404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A1E8D9"/>
                </a:solidFill>
                <a:latin typeface="Inter"/>
              </a:defRPr>
            </a:pPr>
            <a:r>
              <a:t>Value flows full circle — from resident to building and back.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Inter Tight"/>
              </a:defRPr>
            </a:pPr>
            <a:r>
              <a:t>The BlockScore Loop</a:t>
            </a:r>
          </a:p>
        </p:txBody>
      </p:sp>
      <p:sp>
        <p:nvSpPr>
          <p:cNvPr id="3" name="Oval 2"/>
          <p:cNvSpPr/>
          <p:nvPr/>
        </p:nvSpPr>
        <p:spPr>
          <a:xfrm>
            <a:off x="3169310" y="914400"/>
            <a:ext cx="5852160" cy="5852160"/>
          </a:xfrm>
          <a:prstGeom prst="ellipse">
            <a:avLst/>
          </a:prstGeom>
          <a:noFill/>
          <a:ln w="25400">
            <a:solidFill>
              <a:srgbClr val="165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815230" y="2560320"/>
            <a:ext cx="2560320" cy="2560320"/>
          </a:xfrm>
          <a:prstGeom prst="ellipse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95190" y="3337560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D2E28"/>
                </a:solidFill>
                <a:latin typeface="Inter Tight"/>
              </a:defRPr>
            </a:pPr>
            <a:r>
              <a:t>The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66590" y="4114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D2E28"/>
                </a:solidFill>
                <a:latin typeface="Inter"/>
              </a:defRPr>
            </a:pPr>
            <a:r>
              <a:t>Virtuous cycle</a:t>
            </a:r>
          </a:p>
        </p:txBody>
      </p:sp>
      <p:sp>
        <p:nvSpPr>
          <p:cNvPr id="7" name="Oval 6"/>
          <p:cNvSpPr/>
          <p:nvPr/>
        </p:nvSpPr>
        <p:spPr>
          <a:xfrm>
            <a:off x="5958230" y="960120"/>
            <a:ext cx="274320" cy="274320"/>
          </a:xfrm>
          <a:prstGeom prst="ellipse">
            <a:avLst/>
          </a:prstGeom>
          <a:solidFill>
            <a:srgbClr val="6FF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23790" y="-91439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DD4C6"/>
                </a:solidFill>
                <a:latin typeface="Inter Tight"/>
              </a:defRPr>
            </a:pPr>
            <a:r>
              <a:t>01 · Survey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3790" y="3200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A1E8D9"/>
                </a:solidFill>
                <a:latin typeface="Inter"/>
              </a:defRPr>
            </a:pPr>
            <a:r>
              <a:t>Residents complete an anonymous survey</a:t>
            </a:r>
          </a:p>
        </p:txBody>
      </p:sp>
      <p:sp>
        <p:nvSpPr>
          <p:cNvPr id="10" name="Oval 9"/>
          <p:cNvSpPr/>
          <p:nvPr/>
        </p:nvSpPr>
        <p:spPr>
          <a:xfrm>
            <a:off x="8701430" y="3703320"/>
            <a:ext cx="274320" cy="274320"/>
          </a:xfrm>
          <a:prstGeom prst="ellipse">
            <a:avLst/>
          </a:prstGeom>
          <a:solidFill>
            <a:srgbClr val="6FF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12910" y="338328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4DD4C6"/>
                </a:solidFill>
                <a:latin typeface="Inter Tight"/>
              </a:defRPr>
            </a:pPr>
            <a:r>
              <a:t>02 · Credit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12910" y="37947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A1E8D9"/>
                </a:solidFill>
                <a:latin typeface="Inter"/>
              </a:defRPr>
            </a:pPr>
            <a:r>
              <a:t>They earn credit toward a report</a:t>
            </a:r>
          </a:p>
        </p:txBody>
      </p:sp>
      <p:sp>
        <p:nvSpPr>
          <p:cNvPr id="13" name="Oval 12"/>
          <p:cNvSpPr/>
          <p:nvPr/>
        </p:nvSpPr>
        <p:spPr>
          <a:xfrm>
            <a:off x="5958230" y="6446520"/>
            <a:ext cx="274320" cy="274320"/>
          </a:xfrm>
          <a:prstGeom prst="ellipse">
            <a:avLst/>
          </a:prstGeom>
          <a:solidFill>
            <a:srgbClr val="6FF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3790" y="685800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DD4C6"/>
                </a:solidFill>
                <a:latin typeface="Inter Tight"/>
              </a:defRPr>
            </a:pPr>
            <a:r>
              <a:t>03 ·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3790" y="72694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A1E8D9"/>
                </a:solidFill>
                <a:latin typeface="Inter"/>
              </a:defRPr>
            </a:pPr>
            <a:r>
              <a:t>Anyone can buy a Building Insight Report</a:t>
            </a:r>
          </a:p>
        </p:txBody>
      </p:sp>
      <p:sp>
        <p:nvSpPr>
          <p:cNvPr id="16" name="Oval 15"/>
          <p:cNvSpPr/>
          <p:nvPr/>
        </p:nvSpPr>
        <p:spPr>
          <a:xfrm>
            <a:off x="3215030" y="3703320"/>
            <a:ext cx="274320" cy="274320"/>
          </a:xfrm>
          <a:prstGeom prst="ellipse">
            <a:avLst/>
          </a:prstGeom>
          <a:solidFill>
            <a:srgbClr val="6FF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4670" y="338328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4DD4C6"/>
                </a:solidFill>
                <a:latin typeface="Inter Tight"/>
              </a:defRPr>
            </a:pPr>
            <a:r>
              <a:t>04 · Sinking Fund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4670" y="37947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A1E8D9"/>
                </a:solidFill>
                <a:latin typeface="Inter"/>
              </a:defRPr>
            </a:pPr>
            <a:r>
              <a:t>Revenue funds the building’s sinking fund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0">
                <a:solidFill>
                  <a:srgbClr val="4DD4C6"/>
                </a:solidFill>
                <a:latin typeface="Georgia"/>
              </a:defRPr>
            </a:pPr>
            <a:r>
              <a:t>“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560320"/>
            <a:ext cx="109728" cy="2286000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i="1">
                <a:solidFill>
                  <a:srgbClr val="FFFFFF"/>
                </a:solidFill>
                <a:latin typeface="Inter"/>
              </a:defRPr>
            </a:pPr>
            <a:r>
              <a:t>Residents are rewarded for participating, buyers get the data they need, and every dollar from reports goes straight back into maintaining the buildings we call home.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30352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DD4C6"/>
                </a:solidFill>
                <a:latin typeface="Inter Tight"/>
              </a:defRPr>
            </a:pPr>
            <a:r>
              <a:t>— The BlockScore Loop, operating principle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4DD4C6"/>
                </a:solidFill>
                <a:latin typeface="Inter Tight"/>
              </a:defRPr>
            </a:pPr>
            <a: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371600"/>
            <a:ext cx="73152" cy="4114800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2377440"/>
            <a:ext cx="6858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Inter Tight"/>
              </a:defRPr>
            </a:pPr>
            <a:r>
              <a:t>The Subscription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38404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A1E8D9"/>
                </a:solidFill>
                <a:latin typeface="Inter"/>
              </a:defRPr>
            </a:pPr>
            <a:r>
              <a:t>Five tiers. One dashboard product. Scales with your portfolio.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Inter Tight"/>
              </a:defRPr>
            </a:pPr>
            <a:r>
              <a:t>A five-tier subscription ladder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2286000" cy="54864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1E8D9"/>
                </a:solidFill>
                <a:latin typeface="Inter"/>
              </a:defRPr>
            </a:pPr>
            <a:r>
              <a:t>Start free with Scout. Move up as your portfolio grows. 30-day free trial on every paid plan.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011680"/>
            <a:ext cx="2145731" cy="4114800"/>
          </a:xfrm>
          <a:prstGeom prst="roundRect">
            <a:avLst/>
          </a:prstGeom>
          <a:solidFill>
            <a:srgbClr val="113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011680"/>
            <a:ext cx="2145731" cy="91440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77997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DD4C6"/>
                </a:solidFill>
                <a:latin typeface="Inter"/>
              </a:defRPr>
            </a:pPr>
            <a:r>
              <a:t>TIER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177997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Inter Tight"/>
              </a:defRPr>
            </a:pPr>
            <a:r>
              <a:t>Scout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91840"/>
            <a:ext cx="177997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1E8D9"/>
                </a:solidFill>
                <a:latin typeface="Inter"/>
              </a:defRPr>
            </a:pPr>
            <a:r>
              <a:t>Self-managed body corps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89120"/>
            <a:ext cx="177997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Inter"/>
              </a:defRPr>
            </a:pPr>
            <a:r>
              <a:t>1 building · 5 units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03520"/>
            <a:ext cx="177997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DD4C6"/>
                </a:solidFill>
                <a:latin typeface="Inter Tight"/>
              </a:defRPr>
            </a:pPr>
            <a:r>
              <a:t>Free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4371" y="1874520"/>
            <a:ext cx="2145731" cy="4114800"/>
          </a:xfrm>
          <a:prstGeom prst="roundRect">
            <a:avLst/>
          </a:prstGeom>
          <a:solidFill>
            <a:srgbClr val="113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94371" y="1874520"/>
            <a:ext cx="2145731" cy="91440"/>
          </a:xfrm>
          <a:prstGeom prst="rect">
            <a:avLst/>
          </a:prstGeom>
          <a:solidFill>
            <a:srgbClr val="2D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77251" y="2148840"/>
            <a:ext cx="177997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AA"/>
                </a:solidFill>
                <a:latin typeface="Inter"/>
              </a:defRPr>
            </a:pPr>
            <a:r>
              <a:t>TIER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77251" y="2468880"/>
            <a:ext cx="177997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Inter Tight"/>
              </a:defRPr>
            </a:pPr>
            <a:r>
              <a:t>Tenant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77251" y="3154680"/>
            <a:ext cx="177997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1E8D9"/>
                </a:solidFill>
                <a:latin typeface="Inter"/>
              </a:defRPr>
            </a:pPr>
            <a:r>
              <a:t>Single-building body corps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7251" y="4251960"/>
            <a:ext cx="177997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Inter"/>
              </a:defRPr>
            </a:pPr>
            <a:r>
              <a:t>1 building · 10 units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77251" y="5166360"/>
            <a:ext cx="177997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D4AA"/>
                </a:solidFill>
                <a:latin typeface="Inter Tight"/>
              </a:defRPr>
            </a:pPr>
            <a:r>
              <a:t>From $90/mo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2982" y="1737360"/>
            <a:ext cx="2145731" cy="4114800"/>
          </a:xfrm>
          <a:prstGeom prst="roundRect">
            <a:avLst/>
          </a:prstGeom>
          <a:solidFill>
            <a:srgbClr val="15473E"/>
          </a:solidFill>
          <a:ln w="25400">
            <a:solidFill>
              <a:srgbClr val="6FF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2982" y="1737360"/>
            <a:ext cx="2145731" cy="91440"/>
          </a:xfrm>
          <a:prstGeom prst="rect">
            <a:avLst/>
          </a:prstGeom>
          <a:solidFill>
            <a:srgbClr val="6FF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05862" y="2011680"/>
            <a:ext cx="177997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FFCE0"/>
                </a:solidFill>
                <a:latin typeface="Inter"/>
              </a:defRPr>
            </a:pPr>
            <a:r>
              <a:t>TIER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05862" y="2331720"/>
            <a:ext cx="177997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Inter Tight"/>
              </a:defRPr>
            </a:pPr>
            <a:r>
              <a:t>Manager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5862" y="3017520"/>
            <a:ext cx="177997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1E8D9"/>
                </a:solidFill>
                <a:latin typeface="Inter"/>
              </a:defRPr>
            </a:pPr>
            <a:r>
              <a:t>Strata managers (popular)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05862" y="4114800"/>
            <a:ext cx="177997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Inter"/>
              </a:defRPr>
            </a:pPr>
            <a:r>
              <a:t>3 buildings · 20 units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5862" y="5029200"/>
            <a:ext cx="177997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FFCE0"/>
                </a:solidFill>
                <a:latin typeface="Inter Tight"/>
              </a:defRPr>
            </a:pPr>
            <a:r>
              <a:t>From $149/mo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14422" y="1417320"/>
            <a:ext cx="1962851" cy="292608"/>
          </a:xfrm>
          <a:prstGeom prst="roundRect">
            <a:avLst/>
          </a:prstGeom>
          <a:solidFill>
            <a:srgbClr val="6FF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14422" y="1389888"/>
            <a:ext cx="196285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D2E28"/>
                </a:solidFill>
                <a:latin typeface="Inter Tight"/>
              </a:defRPr>
            </a:pPr>
            <a:r>
              <a:t>MOST POPULAR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51593" y="1600200"/>
            <a:ext cx="2145731" cy="4114800"/>
          </a:xfrm>
          <a:prstGeom prst="roundRect">
            <a:avLst/>
          </a:prstGeom>
          <a:solidFill>
            <a:srgbClr val="113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51593" y="1600200"/>
            <a:ext cx="2145731" cy="91440"/>
          </a:xfrm>
          <a:prstGeom prst="rect">
            <a:avLst/>
          </a:prstGeom>
          <a:solidFill>
            <a:srgbClr val="2D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34473" y="1874520"/>
            <a:ext cx="177997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AA"/>
                </a:solidFill>
                <a:latin typeface="Inter"/>
              </a:defRPr>
            </a:pPr>
            <a:r>
              <a:t>TIER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34473" y="2194560"/>
            <a:ext cx="177997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Inter Tight"/>
              </a:defRPr>
            </a:pPr>
            <a:r>
              <a:t>Landlord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34473" y="2880360"/>
            <a:ext cx="177997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1E8D9"/>
                </a:solidFill>
                <a:latin typeface="Inter"/>
              </a:defRPr>
            </a:pPr>
            <a:r>
              <a:t>Portfolio owners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34473" y="3977640"/>
            <a:ext cx="177997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Inter"/>
              </a:defRPr>
            </a:pPr>
            <a:r>
              <a:t>Unlimited · 50 units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34473" y="4892040"/>
            <a:ext cx="177997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D4AA"/>
                </a:solidFill>
                <a:latin typeface="Inter Tight"/>
              </a:defRPr>
            </a:pPr>
            <a:r>
              <a:t>From $249/mo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80204" y="1463040"/>
            <a:ext cx="2145731" cy="4114800"/>
          </a:xfrm>
          <a:prstGeom prst="roundRect">
            <a:avLst/>
          </a:prstGeom>
          <a:solidFill>
            <a:srgbClr val="113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80204" y="1463040"/>
            <a:ext cx="2145731" cy="91440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63084" y="1737360"/>
            <a:ext cx="177997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DD4C6"/>
                </a:solidFill>
                <a:latin typeface="Inter"/>
              </a:defRPr>
            </a:pPr>
            <a:r>
              <a:t>TIER 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63084" y="2057400"/>
            <a:ext cx="177997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Inter Tight"/>
              </a:defRPr>
            </a:pPr>
            <a:r>
              <a:t>Mayor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63084" y="2743200"/>
            <a:ext cx="177997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1E8D9"/>
                </a:solidFill>
                <a:latin typeface="Inter"/>
              </a:defRPr>
            </a:pPr>
            <a:r>
              <a:t>Enterprise managers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63084" y="3840480"/>
            <a:ext cx="177997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Inter"/>
              </a:defRPr>
            </a:pPr>
            <a:r>
              <a:t>Unlimited · 199 units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63084" y="4754880"/>
            <a:ext cx="177997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DD4C6"/>
                </a:solidFill>
                <a:latin typeface="Inter Tight"/>
              </a:defRPr>
            </a:pPr>
            <a:r>
              <a:t>From $330/mo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