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 Tight"/>
              </a:defRPr>
            </a:pPr>
            <a:r>
              <a:t>Three funding streams, one flywheel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965960"/>
            <a:ext cx="3840480" cy="3657600"/>
          </a:xfrm>
          <a:prstGeom prst="roundRect">
            <a:avLst/>
          </a:prstGeom>
          <a:solidFill>
            <a:srgbClr val="06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365760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103120"/>
            <a:ext cx="731520" cy="109728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DD4C6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 Tight"/>
              </a:defRPr>
            </a:pPr>
            <a:r>
              <a:t>SaaS funds the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E8D9"/>
                </a:solidFill>
                <a:latin typeface="Inter"/>
              </a:defRPr>
            </a:pPr>
            <a:r>
              <a:t>Dashboard subscriptions pay for the Livability Index itself — research, engineering, validation and ML refinement.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331720"/>
            <a:ext cx="3840480" cy="3657600"/>
          </a:xfrm>
          <a:prstGeom prst="roundRect">
            <a:avLst/>
          </a:prstGeom>
          <a:solidFill>
            <a:srgbClr val="06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2194560"/>
            <a:ext cx="3840480" cy="3657600"/>
          </a:xfrm>
          <a:prstGeom prst="roundRect">
            <a:avLst/>
          </a:prstGeom>
          <a:solidFill>
            <a:srgbClr val="154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468879"/>
            <a:ext cx="731520" cy="109728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743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D4AA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661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 Tight"/>
              </a:defRPr>
            </a:pPr>
            <a:r>
              <a:t>Reports fund the buildings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5720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E8D9"/>
                </a:solidFill>
                <a:latin typeface="Inter"/>
              </a:defRPr>
            </a:pPr>
            <a:r>
              <a:t>Every Building Insight Report sends revenue straight into the featured building’s sinking fund for maintenance.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783080"/>
            <a:ext cx="3840480" cy="3657600"/>
          </a:xfrm>
          <a:prstGeom prst="roundRect">
            <a:avLst/>
          </a:prstGeom>
          <a:solidFill>
            <a:srgbClr val="06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1645920"/>
            <a:ext cx="3840480" cy="365760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920240"/>
            <a:ext cx="731520" cy="109728"/>
          </a:xfrm>
          <a:prstGeom prst="rect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945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FFCE0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0175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 Tight"/>
              </a:defRPr>
            </a:pPr>
            <a:r>
              <a:t>Surveys fund the residents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0233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E8D9"/>
                </a:solidFill>
                <a:latin typeface="Inter"/>
              </a:defRPr>
            </a:pPr>
            <a:r>
              <a:t>Residents earn credit against the cost of the report they care about most — honest feedback, fair reward.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Inter Tight"/>
              </a:defRPr>
            </a:pPr>
            <a:r>
              <a:t>Know your building. Protect your tenants.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33295" cy="73152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1E8D9"/>
                </a:solidFill>
                <a:latin typeface="Inter"/>
              </a:defRPr>
            </a:pPr>
            <a:r>
              <a:t>Anonymous feedback. Actionable insights. Benchmarkable building scores.</a:t>
            </a:r>
          </a:p>
        </p:txBody>
      </p:sp>
      <p:sp>
        <p:nvSpPr>
          <p:cNvPr id="7" name="Oval 6"/>
          <p:cNvSpPr/>
          <p:nvPr/>
        </p:nvSpPr>
        <p:spPr>
          <a:xfrm>
            <a:off x="2203704" y="4846320"/>
            <a:ext cx="457200" cy="457200"/>
          </a:xfrm>
          <a:prstGeom prst="ellipse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37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2E28"/>
                </a:solidFill>
                <a:latin typeface="Inter Tight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Inter"/>
              </a:defRPr>
            </a:pPr>
            <a:r>
              <a:t>Read the methodology</a:t>
            </a:r>
          </a:p>
        </p:txBody>
      </p:sp>
      <p:sp>
        <p:nvSpPr>
          <p:cNvPr id="10" name="Oval 9"/>
          <p:cNvSpPr/>
          <p:nvPr/>
        </p:nvSpPr>
        <p:spPr>
          <a:xfrm>
            <a:off x="5861304" y="4846320"/>
            <a:ext cx="457200" cy="457200"/>
          </a:xfrm>
          <a:prstGeom prst="ellipse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613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2E28"/>
                </a:solidFill>
                <a:latin typeface="Inter Tight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Inter"/>
              </a:defRPr>
            </a:pPr>
            <a:r>
              <a:t>Join the waitlist</a:t>
            </a:r>
          </a:p>
        </p:txBody>
      </p:sp>
      <p:sp>
        <p:nvSpPr>
          <p:cNvPr id="13" name="Oval 12"/>
          <p:cNvSpPr/>
          <p:nvPr/>
        </p:nvSpPr>
        <p:spPr>
          <a:xfrm>
            <a:off x="9518904" y="4846320"/>
            <a:ext cx="457200" cy="457200"/>
          </a:xfrm>
          <a:prstGeom prst="ellipse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189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2E28"/>
                </a:solidFill>
                <a:latin typeface="Inter Tigh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187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Inter"/>
              </a:defRPr>
            </a:pPr>
            <a:r>
              <a:t>Talk to our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DD4C6"/>
                </a:solidFill>
                <a:latin typeface="Inter Tight"/>
              </a:defRPr>
            </a:pPr>
            <a:r>
              <a:t>blockscore.net/methodology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